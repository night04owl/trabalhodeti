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426"/>
    <a:srgbClr val="1525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53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5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1097280"/>
            <a:ext cx="164592" cy="164592"/>
          </a:xfrm>
          <a:prstGeom prst="ellipse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41280" y="1828800"/>
            <a:ext cx="201168" cy="201168"/>
          </a:xfrm>
          <a:prstGeom prst="ellipse">
            <a:avLst/>
          </a:prstGeom>
          <a:solidFill>
            <a:srgbClr val="C6E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0" y="2926080"/>
            <a:ext cx="146304" cy="146304"/>
          </a:xfrm>
          <a:prstGeom prst="ellipse">
            <a:avLst/>
          </a:prstGeom>
          <a:solidFill>
            <a:srgbClr val="51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98480" y="4023360"/>
            <a:ext cx="182880" cy="182880"/>
          </a:xfrm>
          <a:prstGeom prst="ellipse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4937760"/>
            <a:ext cx="155448" cy="155448"/>
          </a:xfrm>
          <a:prstGeom prst="ellipse">
            <a:avLst/>
          </a:prstGeom>
          <a:solidFill>
            <a:srgbClr val="C6E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064240" y="5486400"/>
            <a:ext cx="128016" cy="128016"/>
          </a:xfrm>
          <a:prstGeom prst="ellipse">
            <a:avLst/>
          </a:prstGeom>
          <a:solidFill>
            <a:srgbClr val="51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46720" y="3840480"/>
            <a:ext cx="109728" cy="109728"/>
          </a:xfrm>
          <a:prstGeom prst="ellipse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8869680" y="1188720"/>
            <a:ext cx="1463040" cy="731520"/>
          </a:xfrm>
          <a:prstGeom prst="line">
            <a:avLst/>
          </a:prstGeom>
          <a:ln w="19050">
            <a:solidFill>
              <a:srgbClr val="324D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235440" y="1920240"/>
            <a:ext cx="1097280" cy="1097280"/>
          </a:xfrm>
          <a:prstGeom prst="line">
            <a:avLst/>
          </a:prstGeom>
          <a:ln w="19050">
            <a:solidFill>
              <a:srgbClr val="324D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235440" y="3017520"/>
            <a:ext cx="1554480" cy="1097280"/>
          </a:xfrm>
          <a:prstGeom prst="line">
            <a:avLst/>
          </a:prstGeom>
          <a:ln w="19050">
            <a:solidFill>
              <a:srgbClr val="324D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778240" y="4114800"/>
            <a:ext cx="2011680" cy="914400"/>
          </a:xfrm>
          <a:prstGeom prst="line">
            <a:avLst/>
          </a:prstGeom>
          <a:ln w="19050">
            <a:solidFill>
              <a:srgbClr val="324D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78240" y="5029200"/>
            <a:ext cx="2377440" cy="548640"/>
          </a:xfrm>
          <a:prstGeom prst="line">
            <a:avLst/>
          </a:prstGeom>
          <a:ln w="19050">
            <a:solidFill>
              <a:srgbClr val="324D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138160" y="3017520"/>
            <a:ext cx="1097280" cy="914400"/>
          </a:xfrm>
          <a:prstGeom prst="line">
            <a:avLst/>
          </a:prstGeom>
          <a:ln w="19050">
            <a:solidFill>
              <a:srgbClr val="324D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138160" y="1188720"/>
            <a:ext cx="731520" cy="2743200"/>
          </a:xfrm>
          <a:prstGeom prst="line">
            <a:avLst/>
          </a:prstGeom>
          <a:ln w="19050">
            <a:solidFill>
              <a:srgbClr val="324D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777240"/>
            <a:ext cx="6400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9CDBE"/>
                </a:solidFill>
                <a:latin typeface="Aptos"/>
              </a:defRPr>
            </a:pPr>
            <a:r>
              <a:rPr dirty="0"/>
              <a:t>TECNOLOGIA  •  RISCO  •  PROTEÇÃO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417320"/>
            <a:ext cx="7680960" cy="1645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700"/>
              </a:spcAft>
              <a:defRPr sz="4200" b="1">
                <a:solidFill>
                  <a:srgbClr val="F2F6FA"/>
                </a:solidFill>
                <a:latin typeface="Aptos"/>
              </a:defRPr>
            </a:pPr>
            <a:r>
              <a:rPr dirty="0" err="1"/>
              <a:t>Cibersegurança</a:t>
            </a:r>
            <a:endParaRPr dirty="0"/>
          </a:p>
          <a:p>
            <a:pPr algn="l">
              <a:spcAft>
                <a:spcPts val="700"/>
              </a:spcAft>
              <a:defRPr sz="4200" b="1">
                <a:solidFill>
                  <a:srgbClr val="F2F6FA"/>
                </a:solidFill>
                <a:latin typeface="Aptos"/>
              </a:defRPr>
            </a:pPr>
            <a:r>
              <a:rPr dirty="0" err="1"/>
              <a:t>na</a:t>
            </a:r>
            <a:r>
              <a:rPr dirty="0"/>
              <a:t> IoT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337560"/>
            <a:ext cx="5767541" cy="7668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A6B6C7"/>
                </a:solidFill>
                <a:latin typeface="Aptos"/>
              </a:defRPr>
            </a:pPr>
            <a:r>
              <a:rPr dirty="0"/>
              <a:t>Internet das </a:t>
            </a:r>
            <a:r>
              <a:rPr dirty="0" err="1"/>
              <a:t>Coisas</a:t>
            </a:r>
            <a:r>
              <a:rPr dirty="0"/>
              <a:t>: </a:t>
            </a:r>
            <a:r>
              <a:rPr dirty="0" err="1"/>
              <a:t>funcionamento</a:t>
            </a:r>
            <a:r>
              <a:rPr dirty="0"/>
              <a:t>, </a:t>
            </a:r>
            <a:r>
              <a:rPr dirty="0" err="1"/>
              <a:t>vulnerabilidades</a:t>
            </a:r>
            <a:r>
              <a:rPr dirty="0"/>
              <a:t> </a:t>
            </a:r>
            <a:endParaRPr lang="pt-PT" dirty="0"/>
          </a:p>
          <a:p>
            <a:pPr algn="l">
              <a:spcAft>
                <a:spcPts val="700"/>
              </a:spcAft>
              <a:defRPr sz="1900" b="0">
                <a:solidFill>
                  <a:srgbClr val="A6B6C7"/>
                </a:solidFill>
                <a:latin typeface="Aptos"/>
              </a:defRPr>
            </a:pPr>
            <a:r>
              <a:rPr dirty="0"/>
              <a:t>e </a:t>
            </a:r>
            <a:r>
              <a:rPr dirty="0" err="1"/>
              <a:t>medidas</a:t>
            </a:r>
            <a:r>
              <a:rPr dirty="0"/>
              <a:t> de </a:t>
            </a:r>
            <a:r>
              <a:rPr dirty="0" err="1"/>
              <a:t>segurança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749808" y="4709160"/>
            <a:ext cx="6309360" cy="1051560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956048"/>
            <a:ext cx="5852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F2F6FA"/>
                </a:solidFill>
                <a:latin typeface="Aptos"/>
              </a:defRPr>
            </a:pPr>
            <a:r>
              <a:t>Afonso Costa  ·  Bernardo Mota  ·  Victor Rosado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330952"/>
            <a:ext cx="58521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A6B6C7"/>
                </a:solidFill>
                <a:latin typeface="Aptos"/>
              </a:defRPr>
            </a:pPr>
            <a:r>
              <a:t>Tecnologias de Computadores  |  Grupo G1  |  Turno PL1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263640"/>
            <a:ext cx="54864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A6B6C7"/>
                </a:solidFill>
                <a:latin typeface="Aptos"/>
              </a:defRPr>
            </a:pPr>
            <a:r>
              <a:t>ESTG  •  Ano letivo 2026/2027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4D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515600" cy="5943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3200" b="1">
                <a:solidFill>
                  <a:srgbClr val="F4F7FA"/>
                </a:solidFill>
                <a:latin typeface="Aptos Display"/>
              </a:defRPr>
            </a:pPr>
            <a: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33272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400">
                <a:solidFill>
                  <a:srgbClr val="AAB9CA"/>
                </a:solidFill>
                <a:latin typeface="Aptos"/>
              </a:defRPr>
            </a:pPr>
            <a:r>
              <a:t>Percurso da apresentação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91640"/>
            <a:ext cx="5074920" cy="896112"/>
          </a:xfrm>
          <a:prstGeom prst="roundRect">
            <a:avLst/>
          </a:prstGeom>
          <a:solidFill>
            <a:srgbClr val="142339"/>
          </a:solidFill>
          <a:ln w="12700">
            <a:solidFill>
              <a:srgbClr val="29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1847088"/>
            <a:ext cx="530352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000" b="1">
                <a:solidFill>
                  <a:srgbClr val="34D3C1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7904" y="1801368"/>
            <a:ext cx="406908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700" b="1">
                <a:solidFill>
                  <a:srgbClr val="F4F7FA"/>
                </a:solidFill>
                <a:latin typeface="Aptos"/>
              </a:defRPr>
            </a:pPr>
            <a:r>
              <a:t>O que é a IoT?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216712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AB9CA"/>
                </a:solidFill>
                <a:latin typeface="Aptos"/>
              </a:defRPr>
            </a:pPr>
            <a:r>
              <a:t>Conceito e definição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807208"/>
            <a:ext cx="5074920" cy="896112"/>
          </a:xfrm>
          <a:prstGeom prst="roundRect">
            <a:avLst/>
          </a:prstGeom>
          <a:solidFill>
            <a:srgbClr val="142339"/>
          </a:solidFill>
          <a:ln w="12700">
            <a:solidFill>
              <a:srgbClr val="29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962656"/>
            <a:ext cx="530352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000" b="1">
                <a:solidFill>
                  <a:srgbClr val="34D3C1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2916936"/>
            <a:ext cx="406908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700" b="1">
                <a:solidFill>
                  <a:srgbClr val="F4F7FA"/>
                </a:solidFill>
                <a:latin typeface="Aptos"/>
              </a:defRPr>
            </a:pPr>
            <a:r>
              <a:t>Evolução histórica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328269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AB9CA"/>
                </a:solidFill>
                <a:latin typeface="Aptos"/>
              </a:defRPr>
            </a:pPr>
            <a:r>
              <a:t>Como a tecnologia evoluiu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922776"/>
            <a:ext cx="5074920" cy="896112"/>
          </a:xfrm>
          <a:prstGeom prst="roundRect">
            <a:avLst/>
          </a:prstGeom>
          <a:solidFill>
            <a:srgbClr val="142339"/>
          </a:solidFill>
          <a:ln w="12700">
            <a:solidFill>
              <a:srgbClr val="29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" y="4078224"/>
            <a:ext cx="530352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000" b="1">
                <a:solidFill>
                  <a:srgbClr val="34D3C1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4032504"/>
            <a:ext cx="406908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700" b="1">
                <a:solidFill>
                  <a:srgbClr val="F4F7FA"/>
                </a:solidFill>
                <a:latin typeface="Aptos"/>
              </a:defRPr>
            </a:pPr>
            <a:r>
              <a:t>Funcionamento e características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439826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AB9CA"/>
                </a:solidFill>
                <a:latin typeface="Aptos"/>
              </a:defRPr>
            </a:pPr>
            <a:r>
              <a:t>Dispositivos, redes e limitações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5038344"/>
            <a:ext cx="5074920" cy="896112"/>
          </a:xfrm>
          <a:prstGeom prst="roundRect">
            <a:avLst/>
          </a:prstGeom>
          <a:solidFill>
            <a:srgbClr val="142339"/>
          </a:solidFill>
          <a:ln w="12700">
            <a:solidFill>
              <a:srgbClr val="29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824" y="5193792"/>
            <a:ext cx="530352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000" b="1">
                <a:solidFill>
                  <a:srgbClr val="34D3C1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7904" y="5148072"/>
            <a:ext cx="406908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700" b="1">
                <a:solidFill>
                  <a:srgbClr val="F4F7FA"/>
                </a:solidFill>
                <a:latin typeface="Aptos"/>
              </a:defRPr>
            </a:pPr>
            <a:r>
              <a:t>Vulnerabilidades e ameaças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551383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AB9CA"/>
                </a:solidFill>
                <a:latin typeface="Aptos"/>
              </a:defRPr>
            </a:pPr>
            <a:r>
              <a:t>Riscos e exemplos de ataques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1691640"/>
            <a:ext cx="5074920" cy="896112"/>
          </a:xfrm>
          <a:prstGeom prst="roundRect">
            <a:avLst/>
          </a:prstGeom>
          <a:solidFill>
            <a:srgbClr val="142339"/>
          </a:solidFill>
          <a:ln w="12700">
            <a:solidFill>
              <a:srgbClr val="29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9944" y="1847088"/>
            <a:ext cx="530352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000" b="1">
                <a:solidFill>
                  <a:srgbClr val="BEDC5F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0024" y="1801368"/>
            <a:ext cx="406908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700" b="1">
                <a:solidFill>
                  <a:srgbClr val="F4F7FA"/>
                </a:solidFill>
                <a:latin typeface="Aptos"/>
              </a:defRPr>
            </a:pPr>
            <a:r>
              <a:t>Medidas de proteção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216712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AB9CA"/>
                </a:solidFill>
                <a:latin typeface="Aptos"/>
              </a:defRPr>
            </a:pPr>
            <a:r>
              <a:t>Boas práticas de cibersegurança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2807208"/>
            <a:ext cx="5074920" cy="896112"/>
          </a:xfrm>
          <a:prstGeom prst="roundRect">
            <a:avLst/>
          </a:prstGeom>
          <a:solidFill>
            <a:srgbClr val="142339"/>
          </a:solidFill>
          <a:ln w="12700">
            <a:solidFill>
              <a:srgbClr val="29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9944" y="2962656"/>
            <a:ext cx="530352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000" b="1">
                <a:solidFill>
                  <a:srgbClr val="BEDC5F"/>
                </a:solidFill>
                <a:latin typeface="Aptos Display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0024" y="2916936"/>
            <a:ext cx="406908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700" b="1">
                <a:solidFill>
                  <a:srgbClr val="F4F7FA"/>
                </a:solidFill>
                <a:latin typeface="Aptos"/>
              </a:defRPr>
            </a:pPr>
            <a:r>
              <a:t>Aplicações em Portugal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328269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AB9CA"/>
                </a:solidFill>
                <a:latin typeface="Aptos"/>
              </a:defRPr>
            </a:pPr>
            <a:r>
              <a:t>Energia, transportes e água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5352" y="3922776"/>
            <a:ext cx="5074920" cy="896112"/>
          </a:xfrm>
          <a:prstGeom prst="roundRect">
            <a:avLst/>
          </a:prstGeom>
          <a:solidFill>
            <a:srgbClr val="142339"/>
          </a:solidFill>
          <a:ln w="12700">
            <a:solidFill>
              <a:srgbClr val="29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9944" y="4078224"/>
            <a:ext cx="530352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000" b="1">
                <a:solidFill>
                  <a:srgbClr val="BEDC5F"/>
                </a:solidFill>
                <a:latin typeface="Aptos Display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0024" y="4032504"/>
            <a:ext cx="406908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700" b="1">
                <a:solidFill>
                  <a:srgbClr val="F4F7FA"/>
                </a:solidFill>
                <a:latin typeface="Aptos"/>
              </a:defRPr>
            </a:pPr>
            <a:r>
              <a:t>Mercado e futuro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439826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AB9CA"/>
                </a:solidFill>
                <a:latin typeface="Aptos"/>
              </a:defRPr>
            </a:pPr>
            <a:r>
              <a:t>Crescimento e tendências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45352" y="5038344"/>
            <a:ext cx="5074920" cy="896112"/>
          </a:xfrm>
          <a:prstGeom prst="roundRect">
            <a:avLst/>
          </a:prstGeom>
          <a:solidFill>
            <a:srgbClr val="142339"/>
          </a:solidFill>
          <a:ln w="12700">
            <a:solidFill>
              <a:srgbClr val="29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9944" y="5193792"/>
            <a:ext cx="530352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000" b="1">
                <a:solidFill>
                  <a:srgbClr val="BEDC5F"/>
                </a:solidFill>
                <a:latin typeface="Aptos Display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0024" y="5148072"/>
            <a:ext cx="406908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700" b="1">
                <a:solidFill>
                  <a:srgbClr val="F4F7FA"/>
                </a:solidFill>
                <a:latin typeface="Aptos"/>
              </a:defRPr>
            </a:pPr>
            <a:r>
              <a:t>Conclusão e referências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551383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AB9CA"/>
                </a:solidFill>
                <a:latin typeface="Aptos"/>
              </a:defRPr>
            </a:pPr>
            <a:r>
              <a:t>Principais ideias e fontes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638251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AAB9CA"/>
                </a:solidFill>
                <a:latin typeface="Aptos"/>
              </a:defRPr>
            </a:pPr>
            <a:r>
              <a:t>Cibersegurança na IoT  •  Tecnologias de Computadores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29CDBE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ENQUADRAMENTO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74320"/>
            <a:ext cx="5486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6B6C7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914400" cy="32004"/>
          </a:xfrm>
          <a:prstGeom prst="rect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972800" cy="6858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3000" b="1">
                <a:solidFill>
                  <a:srgbClr val="F2F6FA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O que é a Internet das Coisas?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5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Objetos físicos que recolhem dados e comunicam com sistemas digitais.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9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CTeSP de Cibersegurança e Redes Informáticas  •  Tecnologias de Computadores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60320"/>
            <a:ext cx="3520440" cy="2331720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73152" cy="2331720"/>
          </a:xfrm>
          <a:prstGeom prst="rect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743200"/>
            <a:ext cx="315468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29CDBE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SENSORES E ATUADORES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154679"/>
            <a:ext cx="3108960" cy="1600199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Interagem com o mundo físico: temperatura, movimento, imagens ou ações.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560320"/>
            <a:ext cx="3520440" cy="2331720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2560320"/>
            <a:ext cx="73152" cy="2331720"/>
          </a:xfrm>
          <a:prstGeom prst="rect">
            <a:avLst/>
          </a:prstGeom>
          <a:solidFill>
            <a:srgbClr val="C6E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743200"/>
            <a:ext cx="315468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C6E65B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PROCESSAMENTO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154679"/>
            <a:ext cx="3108960" cy="1600199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Os dados são tratados no dispositivo, num equipamento próximo ou num servidor.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560320"/>
            <a:ext cx="3520440" cy="2331720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2560320"/>
            <a:ext cx="73152" cy="2331720"/>
          </a:xfrm>
          <a:prstGeom prst="rect">
            <a:avLst/>
          </a:prstGeom>
          <a:solidFill>
            <a:srgbClr val="51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743200"/>
            <a:ext cx="315468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51A0FF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CONECTIVIDADE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154679"/>
            <a:ext cx="3108960" cy="1600199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Ethernet, Wi-Fi, Bluetooth ou redes móveis permitem trocar informação.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29CDBE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74320"/>
            <a:ext cx="5486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6B6C7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914400" cy="32004"/>
          </a:xfrm>
          <a:prstGeom prst="rect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972800" cy="6858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3000" b="1">
                <a:solidFill>
                  <a:srgbClr val="F2F6FA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Da experiência inicial à IoT atual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5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Alguns marcos destacados no relatório.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9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CTeSP de Cibersegurança e Redes Informáticas  •  Tecnologias de Computadores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43200"/>
            <a:ext cx="256032" cy="256032"/>
          </a:xfrm>
          <a:prstGeom prst="ellipse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1033271" y="2871216"/>
            <a:ext cx="2532889" cy="0"/>
          </a:xfrm>
          <a:prstGeom prst="line">
            <a:avLst/>
          </a:prstGeom>
          <a:ln w="25400">
            <a:solidFill>
              <a:srgbClr val="324D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3154680"/>
            <a:ext cx="2468880" cy="3657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900" b="1">
                <a:solidFill>
                  <a:srgbClr val="29CDBE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Anos 1980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57600"/>
            <a:ext cx="2423160" cy="12344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5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Máquina de venda da Carnegie Mellon consultável através da rede.</a:t>
            </a:r>
          </a:p>
        </p:txBody>
      </p:sp>
      <p:sp>
        <p:nvSpPr>
          <p:cNvPr id="12" name="Oval 11"/>
          <p:cNvSpPr/>
          <p:nvPr/>
        </p:nvSpPr>
        <p:spPr>
          <a:xfrm>
            <a:off x="3611880" y="2743200"/>
            <a:ext cx="256032" cy="256032"/>
          </a:xfrm>
          <a:prstGeom prst="ellipse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3867912" y="2871216"/>
            <a:ext cx="2532888" cy="0"/>
          </a:xfrm>
          <a:prstGeom prst="line">
            <a:avLst/>
          </a:prstGeom>
          <a:ln w="25400">
            <a:solidFill>
              <a:srgbClr val="324D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11880" y="3154680"/>
            <a:ext cx="2468880" cy="3657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900" b="1">
                <a:solidFill>
                  <a:srgbClr val="29CDBE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1999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657600"/>
            <a:ext cx="2423160" cy="12344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5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Kevin Ashton populariza a expressão “Internet of Things”.</a:t>
            </a:r>
          </a:p>
        </p:txBody>
      </p:sp>
      <p:sp>
        <p:nvSpPr>
          <p:cNvPr id="16" name="Oval 15"/>
          <p:cNvSpPr/>
          <p:nvPr/>
        </p:nvSpPr>
        <p:spPr>
          <a:xfrm>
            <a:off x="6446520" y="2743200"/>
            <a:ext cx="256032" cy="256032"/>
          </a:xfrm>
          <a:prstGeom prst="ellipse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6702552" y="2871216"/>
            <a:ext cx="2532888" cy="0"/>
          </a:xfrm>
          <a:prstGeom prst="line">
            <a:avLst/>
          </a:prstGeom>
          <a:ln w="25400">
            <a:solidFill>
              <a:srgbClr val="324D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46520" y="3154680"/>
            <a:ext cx="2468880" cy="3657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900" b="1">
                <a:solidFill>
                  <a:srgbClr val="29CDBE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2005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657600"/>
            <a:ext cx="2423160" cy="12344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5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A ITU destaca o potencial de objetos e sensores interligados.</a:t>
            </a:r>
          </a:p>
        </p:txBody>
      </p:sp>
      <p:sp>
        <p:nvSpPr>
          <p:cNvPr id="20" name="Oval 19"/>
          <p:cNvSpPr/>
          <p:nvPr/>
        </p:nvSpPr>
        <p:spPr>
          <a:xfrm>
            <a:off x="9281160" y="2743200"/>
            <a:ext cx="256032" cy="256032"/>
          </a:xfrm>
          <a:prstGeom prst="ellipse">
            <a:avLst/>
          </a:prstGeom>
          <a:solidFill>
            <a:srgbClr val="C6E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81160" y="3154680"/>
            <a:ext cx="2468880" cy="3657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900" b="1">
                <a:solidFill>
                  <a:srgbClr val="C6E65B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Hoje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657600"/>
            <a:ext cx="2423160" cy="12344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5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IoT integra cloud, redes sem fios, inteligência artificial e edge computing.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29CDBE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FUNCIONAMENTO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74320"/>
            <a:ext cx="5486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6B6C7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914400" cy="32004"/>
          </a:xfrm>
          <a:prstGeom prst="rect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972800" cy="6858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3000" b="1">
                <a:solidFill>
                  <a:srgbClr val="F2F6FA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Como funciona um dispositivo IoT?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5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O percurso dos dados pode variar consoante o equipamento.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9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CTeSP de Cibersegurança e Redes Informáticas  •  Tecnologias de Computadores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788920"/>
            <a:ext cx="2057400" cy="2406078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5486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29CDBE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78308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600" b="1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Recolha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22191"/>
            <a:ext cx="1783080" cy="62179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2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Sensores captam o ambiente.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401568"/>
            <a:ext cx="274320" cy="3657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2000" b="1">
                <a:solidFill>
                  <a:srgbClr val="C6E65B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79" y="2788920"/>
            <a:ext cx="2057400" cy="2406078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39" y="2971800"/>
            <a:ext cx="5486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29CDBE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39" y="3383280"/>
            <a:ext cx="178308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600" b="1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Conversão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39" y="3822191"/>
            <a:ext cx="1783080" cy="62179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2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Sinais tornam-se dados digitais.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79" y="3401568"/>
            <a:ext cx="274320" cy="3657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2000" b="1">
                <a:solidFill>
                  <a:srgbClr val="C6E65B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2788920"/>
            <a:ext cx="2057400" cy="2406078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94960" y="2971800"/>
            <a:ext cx="5486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29CDBE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383280"/>
            <a:ext cx="178308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600" b="1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Processamento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822191"/>
            <a:ext cx="1783080" cy="62179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2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O sistema interpreta a informação.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401568"/>
            <a:ext cx="274320" cy="3657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2000" b="1">
                <a:solidFill>
                  <a:srgbClr val="C6E65B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19" y="2788920"/>
            <a:ext cx="2057400" cy="2406078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26679" y="2971800"/>
            <a:ext cx="5486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29CDBE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3383280"/>
            <a:ext cx="178308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600" b="1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Comunicação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3822191"/>
            <a:ext cx="1783080" cy="62179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2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Os dados seguem pela rede.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19" y="3401568"/>
            <a:ext cx="274320" cy="3657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2000" b="1">
                <a:solidFill>
                  <a:srgbClr val="C6E65B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21240" y="2788920"/>
            <a:ext cx="2057400" cy="2406078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0" y="2971800"/>
            <a:ext cx="5486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29CDBE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3383280"/>
            <a:ext cx="178308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600" b="1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Ação / registo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3822191"/>
            <a:ext cx="1783080" cy="62179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2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Uma ação é executada ou os dados são guardados.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29CDBE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DISPOSITIVOS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74320"/>
            <a:ext cx="5486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6B6C7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914400" cy="32004"/>
          </a:xfrm>
          <a:prstGeom prst="rect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972800" cy="6858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3000" b="1">
                <a:solidFill>
                  <a:srgbClr val="F2F6FA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Características e limitações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5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O desenho do dispositivo influencia a sua segurança.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9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CTeSP de Cibersegurança e Redes Informáticas  •  Tecnologias de Computadores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14600"/>
            <a:ext cx="3474720" cy="2423160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514600"/>
            <a:ext cx="73152" cy="2423160"/>
          </a:xfrm>
          <a:prstGeom prst="rect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697480"/>
            <a:ext cx="31089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29CDBE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RECURSOS LIMITADOS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108960"/>
            <a:ext cx="3063239" cy="1691639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Processamento, memória, armazenamento e energia podem ser reduzidos.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514600"/>
            <a:ext cx="3474720" cy="2423160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2514600"/>
            <a:ext cx="73152" cy="2423160"/>
          </a:xfrm>
          <a:prstGeom prst="rect">
            <a:avLst/>
          </a:prstGeom>
          <a:solidFill>
            <a:srgbClr val="C6E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697480"/>
            <a:ext cx="31089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C6E65B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DIVERSIDADE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08960"/>
            <a:ext cx="3063239" cy="1691639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Dispositivos, fabricantes e protocolos diferentes convivem na mesma rede.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514600"/>
            <a:ext cx="3474720" cy="2423160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2514600"/>
            <a:ext cx="73152" cy="2423160"/>
          </a:xfrm>
          <a:prstGeom prst="rect">
            <a:avLst/>
          </a:prstGeom>
          <a:solidFill>
            <a:srgbClr val="FF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697480"/>
            <a:ext cx="31089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FF7171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LIGAÇÃO AO MUNDO FÍSICO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108960"/>
            <a:ext cx="3063239" cy="1691639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Uma falha pode expor dados ou alterar o funcionamento de equipamentos.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29CDBE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CIBERSEGURANÇA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74320"/>
            <a:ext cx="5486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6B6C7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914400" cy="32004"/>
          </a:xfrm>
          <a:prstGeom prst="rect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972800" cy="6858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3000" b="1">
                <a:solidFill>
                  <a:srgbClr val="F2F6FA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Principais vulnerabilidades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5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A superfície de ataque aumenta quando os dispositivos estão conectados.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9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CTeSP de Cibersegurança e Redes Informáticas  •  Tecnologias de Computadores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5257800" cy="1036784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73152" cy="1036784"/>
          </a:xfrm>
          <a:prstGeom prst="rect">
            <a:avLst/>
          </a:prstGeom>
          <a:solidFill>
            <a:srgbClr val="FF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464360"/>
            <a:ext cx="48920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FF7171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Credenciais fracas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875839"/>
            <a:ext cx="4846320" cy="182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 dirty="0" err="1">
                <a:solidFill>
                  <a:srgbClr val="F4F7FA"/>
                </a:solidFill>
                <a:latin typeface="Aptos"/>
              </a:rPr>
              <a:t>Palavras</a:t>
            </a:r>
            <a:r>
              <a:rPr sz="1600" dirty="0">
                <a:solidFill>
                  <a:srgbClr val="F4F7FA"/>
                </a:solidFill>
                <a:latin typeface="Aptos"/>
              </a:rPr>
              <a:t>-passe </a:t>
            </a:r>
            <a:r>
              <a:rPr sz="1600" dirty="0" err="1">
                <a:solidFill>
                  <a:srgbClr val="F4F7FA"/>
                </a:solidFill>
                <a:latin typeface="Aptos"/>
              </a:rPr>
              <a:t>predefinidas</a:t>
            </a:r>
            <a:r>
              <a:rPr sz="1600" dirty="0">
                <a:solidFill>
                  <a:srgbClr val="F4F7FA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4F7FA"/>
                </a:solidFill>
                <a:latin typeface="Aptos"/>
              </a:rPr>
              <a:t>ou</a:t>
            </a:r>
            <a:r>
              <a:rPr sz="1600" dirty="0">
                <a:solidFill>
                  <a:srgbClr val="F4F7FA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4F7FA"/>
                </a:solidFill>
                <a:latin typeface="Aptos"/>
              </a:rPr>
              <a:t>reutilizadas</a:t>
            </a:r>
            <a:r>
              <a:rPr sz="1600" dirty="0">
                <a:solidFill>
                  <a:srgbClr val="F4F7FA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331720"/>
            <a:ext cx="5257800" cy="1036784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2331720"/>
            <a:ext cx="73152" cy="1036784"/>
          </a:xfrm>
          <a:prstGeom prst="rect">
            <a:avLst/>
          </a:prstGeom>
          <a:solidFill>
            <a:srgbClr val="C6E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8" y="2464360"/>
            <a:ext cx="48920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C6E65B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Software desatualizado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875839"/>
            <a:ext cx="4846320" cy="182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Falhas conhecidas podem continuar por corrigir.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95296"/>
            <a:ext cx="5257800" cy="1223592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595296"/>
            <a:ext cx="73152" cy="1223592"/>
          </a:xfrm>
          <a:prstGeom prst="rect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727936"/>
            <a:ext cx="48920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29CDBE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Acesso remoto exposto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139416"/>
            <a:ext cx="4846320" cy="182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Interfaces de administração acessíveis sem proteção adequada.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595296"/>
            <a:ext cx="5257800" cy="1223592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55080" y="3595296"/>
            <a:ext cx="73152" cy="1223592"/>
          </a:xfrm>
          <a:prstGeom prst="rect">
            <a:avLst/>
          </a:prstGeom>
          <a:solidFill>
            <a:srgbClr val="51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6248" y="3727936"/>
            <a:ext cx="48920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51A0FF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Rede pouco segmentada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4139416"/>
            <a:ext cx="4846320" cy="182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 dirty="0">
                <a:solidFill>
                  <a:srgbClr val="F4F7FA"/>
                </a:solidFill>
                <a:latin typeface="Aptos"/>
              </a:rPr>
              <a:t>Um </a:t>
            </a:r>
            <a:r>
              <a:rPr sz="1600" dirty="0" err="1">
                <a:solidFill>
                  <a:srgbClr val="F4F7FA"/>
                </a:solidFill>
                <a:latin typeface="Aptos"/>
              </a:rPr>
              <a:t>dispositivo</a:t>
            </a:r>
            <a:r>
              <a:rPr sz="1600" dirty="0">
                <a:solidFill>
                  <a:srgbClr val="F4F7FA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4F7FA"/>
                </a:solidFill>
                <a:latin typeface="Aptos"/>
              </a:rPr>
              <a:t>comprometido</a:t>
            </a:r>
            <a:r>
              <a:rPr sz="1600" dirty="0">
                <a:solidFill>
                  <a:srgbClr val="F4F7FA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4F7FA"/>
                </a:solidFill>
                <a:latin typeface="Aptos"/>
              </a:rPr>
              <a:t>pode</a:t>
            </a:r>
            <a:r>
              <a:rPr sz="1600" dirty="0">
                <a:solidFill>
                  <a:srgbClr val="F4F7FA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4F7FA"/>
                </a:solidFill>
                <a:latin typeface="Aptos"/>
              </a:rPr>
              <a:t>facilitar</a:t>
            </a:r>
            <a:r>
              <a:rPr sz="1600" dirty="0">
                <a:solidFill>
                  <a:srgbClr val="F4F7FA"/>
                </a:solidFill>
                <a:latin typeface="Aptos"/>
              </a:rPr>
              <a:t> o </a:t>
            </a:r>
            <a:r>
              <a:rPr sz="1600" dirty="0" err="1">
                <a:solidFill>
                  <a:srgbClr val="F4F7FA"/>
                </a:solidFill>
                <a:latin typeface="Aptos"/>
              </a:rPr>
              <a:t>acesso</a:t>
            </a:r>
            <a:r>
              <a:rPr sz="1600" dirty="0">
                <a:solidFill>
                  <a:srgbClr val="F4F7FA"/>
                </a:solidFill>
                <a:latin typeface="Aptos"/>
              </a:rPr>
              <a:t> a outros </a:t>
            </a:r>
            <a:r>
              <a:rPr sz="1600" dirty="0" err="1">
                <a:solidFill>
                  <a:srgbClr val="F4F7FA"/>
                </a:solidFill>
                <a:latin typeface="Aptos"/>
              </a:rPr>
              <a:t>sistemas</a:t>
            </a:r>
            <a:r>
              <a:rPr sz="1600" dirty="0">
                <a:solidFill>
                  <a:srgbClr val="F4F7FA"/>
                </a:solidFill>
                <a:latin typeface="Aptos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039736"/>
            <a:ext cx="5257800" cy="1223592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5039736"/>
            <a:ext cx="73152" cy="1223592"/>
          </a:xfrm>
          <a:prstGeom prst="rect">
            <a:avLst/>
          </a:prstGeom>
          <a:solidFill>
            <a:srgbClr val="FF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5172376"/>
            <a:ext cx="48920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FF7171"/>
                </a:solidFill>
                <a:latin typeface="Aptos"/>
              </a:defRPr>
            </a:pPr>
            <a:r>
              <a:rPr sz="1600" dirty="0">
                <a:solidFill>
                  <a:srgbClr val="F4F7FA"/>
                </a:solidFill>
                <a:latin typeface="Aptos"/>
              </a:rPr>
              <a:t>Dados </a:t>
            </a:r>
            <a:r>
              <a:rPr sz="1600" dirty="0" err="1">
                <a:solidFill>
                  <a:srgbClr val="F4F7FA"/>
                </a:solidFill>
                <a:latin typeface="Aptos"/>
              </a:rPr>
              <a:t>sem</a:t>
            </a:r>
            <a:r>
              <a:rPr sz="1600" dirty="0">
                <a:solidFill>
                  <a:srgbClr val="F4F7FA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4F7FA"/>
                </a:solidFill>
                <a:latin typeface="Aptos"/>
              </a:rPr>
              <a:t>proteção</a:t>
            </a:r>
            <a:endParaRPr sz="1600" dirty="0">
              <a:solidFill>
                <a:srgbClr val="F4F7FA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32688" y="5583856"/>
            <a:ext cx="4846320" cy="182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Informações pessoais ou empresariais podem ser expostas.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29CDBE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CASOS ANALISADOS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74320"/>
            <a:ext cx="5486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6B6C7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914400" cy="32004"/>
          </a:xfrm>
          <a:prstGeom prst="rect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972800" cy="6858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3000" b="1">
                <a:solidFill>
                  <a:srgbClr val="F2F6FA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Quando a IoT é comprometida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5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Exemplos discutidos no relatório.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9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CTeSP de Cibersegurança e Redes Informáticas  •  Tecnologias de Computadores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3520440" cy="2606040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331720"/>
            <a:ext cx="73152" cy="2606040"/>
          </a:xfrm>
          <a:prstGeom prst="rect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514600"/>
            <a:ext cx="315468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29CDBE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CASA INTELIGENTE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26079"/>
            <a:ext cx="3108960" cy="1874519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Mr. Robot ilustra como luzes, climatização, som e alarme podem ser afetados.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331720"/>
            <a:ext cx="3520440" cy="2606040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2331720"/>
            <a:ext cx="73152" cy="2606040"/>
          </a:xfrm>
          <a:prstGeom prst="rect">
            <a:avLst/>
          </a:prstGeom>
          <a:solidFill>
            <a:srgbClr val="C6E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514600"/>
            <a:ext cx="315468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C6E65B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AMBIENTE EMPRESARIAL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926079"/>
            <a:ext cx="3108960" cy="1874519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Um dispositivo pode servir de ponto de entrada para sistemas internos ou 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331720"/>
            <a:ext cx="3520440" cy="2606040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2331720"/>
            <a:ext cx="73152" cy="2606040"/>
          </a:xfrm>
          <a:prstGeom prst="rect">
            <a:avLst/>
          </a:prstGeom>
          <a:solidFill>
            <a:srgbClr val="FF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8" y="2514600"/>
            <a:ext cx="315468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FF7171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REFRIGERAÇÃO COMERCIAL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926079"/>
            <a:ext cx="3108960" cy="1874519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O relatório descreve controladores comprometidos em supermercados franceses e impactos operacionais.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29CDBE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74320"/>
            <a:ext cx="5486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6B6C7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914400" cy="32004"/>
          </a:xfrm>
          <a:prstGeom prst="rect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972800" cy="6858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3000" b="1">
                <a:solidFill>
                  <a:srgbClr val="F2F6FA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Botnets, DDoS e privacidade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5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Dispositivos simples podem causar impactos significativos quando comprometidos em grande número.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9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CTeSP de Cibersegurança e Redes Informáticas  •  Tecnologias de Computadores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3474720" cy="2468880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73152" cy="2468880"/>
          </a:xfrm>
          <a:prstGeom prst="rect">
            <a:avLst/>
          </a:prstGeom>
          <a:solidFill>
            <a:srgbClr val="FF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697480"/>
            <a:ext cx="31089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FF7171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BOTNET MIRAI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08960"/>
            <a:ext cx="3063239" cy="17373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Em 2016, routers, câmaras e outros equipamentos foram usados em ataques DDoS.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514600"/>
            <a:ext cx="3474720" cy="2468880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2514600"/>
            <a:ext cx="73152" cy="2468880"/>
          </a:xfrm>
          <a:prstGeom prst="rect">
            <a:avLst/>
          </a:prstGeom>
          <a:solidFill>
            <a:srgbClr val="C6E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697480"/>
            <a:ext cx="31089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C6E65B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NEGAÇÃO DE SERVIÇO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08960"/>
            <a:ext cx="3063239" cy="17373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O tráfego coordenado pode sobrecarregar serviços e dificultar o acesso legítimo.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514600"/>
            <a:ext cx="3474720" cy="2468880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2514600"/>
            <a:ext cx="73152" cy="2468880"/>
          </a:xfrm>
          <a:prstGeom prst="rect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8" y="2697480"/>
            <a:ext cx="31089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29CDBE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PRIVACIDADE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3108960"/>
            <a:ext cx="3063239" cy="17373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Sensores, câmaras, microfones e localização podem revelar hábitos e rotinas.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29CDBE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MITIGAÇÃO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74320"/>
            <a:ext cx="5486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6B6C7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914400" cy="32004"/>
          </a:xfrm>
          <a:prstGeom prst="rect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972800" cy="6858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3000" b="1">
                <a:solidFill>
                  <a:srgbClr val="F2F6FA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Medidas essenciais de segurança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5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A segurança deve acompanhar todo o ciclo de vida do dispositivo.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9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CTeSP de Cibersegurança e Redes Informáticas  •  Tecnologias de Computadores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5257800" cy="1221398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73152" cy="1221398"/>
          </a:xfrm>
          <a:prstGeom prst="rect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362872"/>
            <a:ext cx="48920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29CDBE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Autenticação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74352"/>
            <a:ext cx="4846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Alterar credenciais de fábrica; usar palavras-passe fortes e únicas e MFA quando disponível.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240280"/>
            <a:ext cx="5257800" cy="1221398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2240280"/>
            <a:ext cx="73152" cy="1221398"/>
          </a:xfrm>
          <a:prstGeom prst="rect">
            <a:avLst/>
          </a:prstGeom>
          <a:solidFill>
            <a:srgbClr val="C6E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8" y="2362872"/>
            <a:ext cx="48920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C6E65B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Atualizações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774352"/>
            <a:ext cx="4846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Manter firmware e software atualizados; avaliar a substituição de equipamentos sem suporte.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84720"/>
            <a:ext cx="5257800" cy="1221398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684720"/>
            <a:ext cx="73152" cy="1221398"/>
          </a:xfrm>
          <a:prstGeom prst="rect">
            <a:avLst/>
          </a:prstGeom>
          <a:solidFill>
            <a:srgbClr val="51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807312"/>
            <a:ext cx="48920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51A0FF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Segmentação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218792"/>
            <a:ext cx="4846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Separar a IoT de redes empresariais e de sistemas com informação sensível.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674677"/>
            <a:ext cx="5257800" cy="1221398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55080" y="3684720"/>
            <a:ext cx="73152" cy="1221398"/>
          </a:xfrm>
          <a:prstGeom prst="rect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6248" y="3807312"/>
            <a:ext cx="48920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29CDBE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Acesso remoto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4218792"/>
            <a:ext cx="4846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Desativar o que não é necessário; proteger o acesso com VPN e permissões restritas.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129160"/>
            <a:ext cx="5257800" cy="1221398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5129160"/>
            <a:ext cx="73152" cy="1221398"/>
          </a:xfrm>
          <a:prstGeom prst="rect">
            <a:avLst/>
          </a:prstGeom>
          <a:solidFill>
            <a:srgbClr val="FF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5261800"/>
            <a:ext cx="48920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FF7171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Proteção de dados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5673280"/>
            <a:ext cx="4846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 dirty="0" err="1">
                <a:solidFill>
                  <a:srgbClr val="F4F7FA"/>
                </a:solidFill>
                <a:latin typeface="Aptos"/>
              </a:rPr>
              <a:t>Cifrar</a:t>
            </a:r>
            <a:r>
              <a:rPr sz="1600" dirty="0">
                <a:solidFill>
                  <a:srgbClr val="F4F7FA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4F7FA"/>
                </a:solidFill>
                <a:latin typeface="Aptos"/>
              </a:rPr>
              <a:t>comunicações</a:t>
            </a:r>
            <a:r>
              <a:rPr sz="1600" dirty="0">
                <a:solidFill>
                  <a:srgbClr val="F4F7FA"/>
                </a:solidFill>
                <a:latin typeface="Aptos"/>
              </a:rPr>
              <a:t>, </a:t>
            </a:r>
            <a:r>
              <a:rPr sz="1600" dirty="0" err="1">
                <a:solidFill>
                  <a:srgbClr val="F4F7FA"/>
                </a:solidFill>
                <a:latin typeface="Aptos"/>
              </a:rPr>
              <a:t>limitar</a:t>
            </a:r>
            <a:r>
              <a:rPr sz="1600" dirty="0">
                <a:solidFill>
                  <a:srgbClr val="F4F7FA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4F7FA"/>
                </a:solidFill>
                <a:latin typeface="Aptos"/>
              </a:rPr>
              <a:t>recolha</a:t>
            </a:r>
            <a:r>
              <a:rPr sz="1600" dirty="0">
                <a:solidFill>
                  <a:srgbClr val="F4F7FA"/>
                </a:solidFill>
                <a:latin typeface="Aptos"/>
              </a:rPr>
              <a:t> e </a:t>
            </a:r>
            <a:r>
              <a:rPr sz="1600" dirty="0" err="1">
                <a:solidFill>
                  <a:srgbClr val="F4F7FA"/>
                </a:solidFill>
                <a:latin typeface="Aptos"/>
              </a:rPr>
              <a:t>permissões</a:t>
            </a:r>
            <a:r>
              <a:rPr sz="1600" dirty="0">
                <a:solidFill>
                  <a:srgbClr val="F4F7FA"/>
                </a:solidFill>
                <a:latin typeface="Aptos"/>
              </a:rPr>
              <a:t>, </a:t>
            </a:r>
            <a:r>
              <a:rPr sz="1600" dirty="0" err="1">
                <a:solidFill>
                  <a:srgbClr val="F4F7FA"/>
                </a:solidFill>
                <a:latin typeface="Aptos"/>
              </a:rPr>
              <a:t>monitorizar</a:t>
            </a:r>
            <a:r>
              <a:rPr sz="1600" dirty="0">
                <a:solidFill>
                  <a:srgbClr val="F4F7FA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4F7FA"/>
                </a:solidFill>
                <a:latin typeface="Aptos"/>
              </a:rPr>
              <a:t>acessos</a:t>
            </a:r>
            <a:r>
              <a:rPr sz="1600" dirty="0">
                <a:solidFill>
                  <a:srgbClr val="F4F7FA"/>
                </a:solidFill>
                <a:latin typeface="Aptos"/>
              </a:rPr>
              <a:t> e </a:t>
            </a:r>
            <a:r>
              <a:rPr sz="1600" dirty="0" err="1">
                <a:solidFill>
                  <a:srgbClr val="F4F7FA"/>
                </a:solidFill>
                <a:latin typeface="Aptos"/>
              </a:rPr>
              <a:t>tráfego</a:t>
            </a:r>
            <a:r>
              <a:rPr sz="1600" dirty="0">
                <a:solidFill>
                  <a:srgbClr val="F4F7FA"/>
                </a:solidFill>
                <a:latin typeface="Aptos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5129160"/>
            <a:ext cx="5257800" cy="1221398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55080" y="5129160"/>
            <a:ext cx="73152" cy="1221398"/>
          </a:xfrm>
          <a:prstGeom prst="rect">
            <a:avLst/>
          </a:prstGeom>
          <a:solidFill>
            <a:srgbClr val="C6E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56248" y="5251752"/>
            <a:ext cx="48920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C6E65B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Recuperação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8" y="5663232"/>
            <a:ext cx="4846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 dirty="0">
                <a:solidFill>
                  <a:srgbClr val="F4F7FA"/>
                </a:solidFill>
                <a:latin typeface="Aptos"/>
              </a:rPr>
              <a:t>Manter </a:t>
            </a:r>
            <a:r>
              <a:rPr sz="1600" dirty="0" err="1">
                <a:solidFill>
                  <a:srgbClr val="F4F7FA"/>
                </a:solidFill>
                <a:latin typeface="Aptos"/>
              </a:rPr>
              <a:t>cópias</a:t>
            </a:r>
            <a:r>
              <a:rPr sz="1600" dirty="0">
                <a:solidFill>
                  <a:srgbClr val="F4F7FA"/>
                </a:solidFill>
                <a:latin typeface="Aptos"/>
              </a:rPr>
              <a:t> de </a:t>
            </a:r>
            <a:r>
              <a:rPr sz="1600" dirty="0" err="1">
                <a:solidFill>
                  <a:srgbClr val="F4F7FA"/>
                </a:solidFill>
                <a:latin typeface="Aptos"/>
              </a:rPr>
              <a:t>segurança</a:t>
            </a:r>
            <a:r>
              <a:rPr sz="1600" dirty="0">
                <a:solidFill>
                  <a:srgbClr val="F4F7FA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4F7FA"/>
                </a:solidFill>
                <a:latin typeface="Aptos"/>
              </a:rPr>
              <a:t>protegidas</a:t>
            </a:r>
            <a:r>
              <a:rPr sz="1600" dirty="0">
                <a:solidFill>
                  <a:srgbClr val="F4F7FA"/>
                </a:solidFill>
                <a:latin typeface="Aptos"/>
              </a:rPr>
              <a:t> e </a:t>
            </a:r>
            <a:r>
              <a:rPr sz="1600" dirty="0" err="1">
                <a:solidFill>
                  <a:srgbClr val="F4F7FA"/>
                </a:solidFill>
                <a:latin typeface="Aptos"/>
              </a:rPr>
              <a:t>testar</a:t>
            </a:r>
            <a:r>
              <a:rPr sz="1600" dirty="0">
                <a:solidFill>
                  <a:srgbClr val="F4F7FA"/>
                </a:solidFill>
                <a:latin typeface="Aptos"/>
              </a:rPr>
              <a:t> a </a:t>
            </a:r>
            <a:r>
              <a:rPr sz="1600" dirty="0" err="1">
                <a:solidFill>
                  <a:srgbClr val="F4F7FA"/>
                </a:solidFill>
                <a:latin typeface="Aptos"/>
              </a:rPr>
              <a:t>sua</a:t>
            </a:r>
            <a:r>
              <a:rPr sz="1600" dirty="0">
                <a:solidFill>
                  <a:srgbClr val="F4F7FA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4F7FA"/>
                </a:solidFill>
                <a:latin typeface="Aptos"/>
              </a:rPr>
              <a:t>restauração</a:t>
            </a:r>
            <a:r>
              <a:rPr sz="1600" dirty="0">
                <a:solidFill>
                  <a:srgbClr val="F4F7FA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29CDBE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APLICAÇÕES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74320"/>
            <a:ext cx="5486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6B6C7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914400" cy="32004"/>
          </a:xfrm>
          <a:prstGeom prst="rect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972800" cy="6858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3000" b="1">
                <a:solidFill>
                  <a:srgbClr val="F2F6FA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IoT no quotidiano em Portugal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5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O relatório compara exemplos em energia, transportes e abastecimento de água.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9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CTeSP de Cibersegurança e Redes Informáticas  •  Tecnologias de Computadores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3474720" cy="2423160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73152" cy="2423160"/>
          </a:xfrm>
          <a:prstGeom prst="rect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697480"/>
            <a:ext cx="31089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29CDBE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ENERGIA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08960"/>
            <a:ext cx="3063239" cy="1691639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Contadores inteligentes permitem recolha automática de dados de consumo.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514600"/>
            <a:ext cx="3474720" cy="2423160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2514600"/>
            <a:ext cx="73152" cy="2423160"/>
          </a:xfrm>
          <a:prstGeom prst="rect">
            <a:avLst/>
          </a:prstGeom>
          <a:solidFill>
            <a:srgbClr val="C6E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697480"/>
            <a:ext cx="31089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C6E65B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TRANSPORTES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08960"/>
            <a:ext cx="3063239" cy="1691639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GPS e a aplicação CARRISway permitem acompanhar autocarros em tempo real.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514600"/>
            <a:ext cx="3474720" cy="2423160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2514600"/>
            <a:ext cx="73152" cy="2423160"/>
          </a:xfrm>
          <a:prstGeom prst="rect">
            <a:avLst/>
          </a:prstGeom>
          <a:solidFill>
            <a:srgbClr val="51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8" y="2697480"/>
            <a:ext cx="31089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51A0FF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ÁGUA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3108960"/>
            <a:ext cx="3063239" cy="1691639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Medidores inteligentes permitem telecontagem e podem ajudar a identificar consumos anormais.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29CDBE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74320"/>
            <a:ext cx="5486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6B6C7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914400" cy="32004"/>
          </a:xfrm>
          <a:prstGeom prst="rect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972800" cy="6858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3000" b="1">
                <a:solidFill>
                  <a:srgbClr val="F2F6FA"/>
                </a:solidFill>
                <a:latin typeface="Aptos"/>
              </a:defRPr>
            </a:pPr>
            <a:r>
              <a:rPr sz="2700" b="1">
                <a:solidFill>
                  <a:srgbClr val="F4F7FA"/>
                </a:solidFill>
                <a:latin typeface="Aptos"/>
              </a:rPr>
              <a:t>Crescimento do mercado de processadores IoT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5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Valores apresentados no relatório, com base na Future Market Insights.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9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CTeSP de Cibersegurança e Redes Informáticas  •  Tecnologias de Computadores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3063240" cy="1600200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944368"/>
            <a:ext cx="2697480" cy="3657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29CDBE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56432"/>
            <a:ext cx="2788920" cy="502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2500" b="1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$39,4 mil 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2743200"/>
            <a:ext cx="3063240" cy="1600200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2944368"/>
            <a:ext cx="2697480" cy="3657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29CDBE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456432"/>
            <a:ext cx="2788920" cy="502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2500" b="1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$55,6 mil 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2743200"/>
            <a:ext cx="3063240" cy="1600200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0" y="2944368"/>
            <a:ext cx="2697480" cy="3657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1700" b="1">
                <a:solidFill>
                  <a:srgbClr val="C6E65B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2035*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456432"/>
            <a:ext cx="2788920" cy="502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2500" b="1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$110,6 mil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29CDBE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PERSPETIVAS FUTURAS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74320"/>
            <a:ext cx="5486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6B6C7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914400" cy="32004"/>
          </a:xfrm>
          <a:prstGeom prst="rect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972800" cy="6858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3000" b="1">
                <a:solidFill>
                  <a:srgbClr val="F2F6FA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Mais inteligência, mais eficiência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5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A evolução tecnológica traz oportunidades e novos desafios.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9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CTeSP de Cibersegurança e Redes Informáticas  •  Tecnologias de Computadores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23160"/>
            <a:ext cx="3520440" cy="2377440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423160"/>
            <a:ext cx="73152" cy="2377440"/>
          </a:xfrm>
          <a:prstGeom prst="rect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606040"/>
            <a:ext cx="315468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29CDBE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IA + EDGE COMPUTING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17520"/>
            <a:ext cx="3108960" cy="1645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Análise local, respostas mais rápidas e potencial redução do tráfego para a nuvem.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423160"/>
            <a:ext cx="3520440" cy="2377440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2423160"/>
            <a:ext cx="73152" cy="2377440"/>
          </a:xfrm>
          <a:prstGeom prst="rect">
            <a:avLst/>
          </a:prstGeom>
          <a:solidFill>
            <a:srgbClr val="C6E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606040"/>
            <a:ext cx="315468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C6E65B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PROCESSAMENTO E MEMÓRIA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017520"/>
            <a:ext cx="3108960" cy="1645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Componentes mais eficientes poderão suportar tarefas mais complexas.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423160"/>
            <a:ext cx="3520440" cy="2377440"/>
          </a:xfrm>
          <a:prstGeom prst="roundRect">
            <a:avLst>
              <a:gd name="adj" fmla="val 12000"/>
            </a:avLst>
          </a:prstGeom>
          <a:solidFill>
            <a:srgbClr val="15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2423160"/>
            <a:ext cx="73152" cy="2377440"/>
          </a:xfrm>
          <a:prstGeom prst="rect">
            <a:avLst/>
          </a:prstGeom>
          <a:solidFill>
            <a:srgbClr val="51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8" y="2606040"/>
            <a:ext cx="315468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300" b="1">
                <a:solidFill>
                  <a:srgbClr val="51A0FF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COMUNICAÇÕES E ENERGIA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3017520"/>
            <a:ext cx="3108960" cy="1645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700" b="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Protocolos adequados e otimização de recursos serão importantes para a escala.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29CDBE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74320"/>
            <a:ext cx="5486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6B6C7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914400" cy="32004"/>
          </a:xfrm>
          <a:prstGeom prst="rect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972800" cy="6858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3000" b="1">
                <a:solidFill>
                  <a:srgbClr val="F2F6FA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Inovar exige proteger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5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A IoT oferece benefícios reais, mas amplia a responsabilidade de proteger sistemas e dados.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9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CTeSP de Cibersegurança e Redes Informáticas  •  Tecnologias de Computadores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10607040" cy="301752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90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•  A IoT liga objetos físicos a sistemas digitais para recolher, processar e transmitir dados.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90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•  Os riscos incluem acesso não autorizado, exposição de informação, interrupções e controlo indevido de equipamentos.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90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•  Atualizações, autenticação forte, cifragem, segmentação e monitorização reduzem a exposição.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90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•  A segurança deve ser considerada desde a conceção até à substituição do dispositivo.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29CDBE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FONTES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74320"/>
            <a:ext cx="5486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6B6C7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914400" cy="32004"/>
          </a:xfrm>
          <a:prstGeom prst="rect">
            <a:avLst/>
          </a:prstGeom>
          <a:solidFill>
            <a:srgbClr val="29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972800" cy="6858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3000" b="1">
                <a:solidFill>
                  <a:srgbClr val="F2F6FA"/>
                </a:solidFill>
                <a:latin typeface="Aptos"/>
              </a:defRPr>
            </a:pPr>
            <a:r>
              <a:rPr sz="3000" b="1">
                <a:solidFill>
                  <a:srgbClr val="F4F7FA"/>
                </a:solidFill>
                <a:latin typeface="Aptos"/>
              </a:rPr>
              <a:t>Referências principais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15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Seleção de fontes citadas no relatório; consultar o documento para a bibliografia completa.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  <a:defRPr sz="9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CTeSP de Cibersegurança e Redes Informáticas  •  Tecnologias de Computadores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10698480" cy="338328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70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•  National Institute of Standards and Technology (2022) — definição de dispositivo IoT.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0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•  Al-Fuqaha et al. (2015) — tecnologias, protocolos e aplicações da IoT.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0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•  Boeckl et al. (2019/2021 no texto) — riscos de cibersegurança e privacidade.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0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•  CISA (2025) e ENISA (2019) — recomendações e boas práticas de segurança.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0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•  CERT-FR (2026) e Reuters (2026) — incidente com controladores de refrigeração.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00">
                <a:solidFill>
                  <a:srgbClr val="F2F6FA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•  Future Market Insights — projeções do mercado de processadores IoT.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6070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 sz="1300" b="0">
                <a:solidFill>
                  <a:srgbClr val="A6B6C7"/>
                </a:solidFill>
                <a:latin typeface="Aptos"/>
              </a:defRPr>
            </a:pPr>
            <a:r>
              <a:rPr sz="1600">
                <a:solidFill>
                  <a:srgbClr val="F4F7FA"/>
                </a:solidFill>
                <a:latin typeface="Aptos"/>
              </a:rPr>
              <a:t>Trabalho realizado por Afonso Costa, Bernardo Mota e Victor Rosado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1166</TotalTime>
  <Words>1173</Words>
  <Application>Microsoft Office PowerPoint</Application>
  <PresentationFormat>Ecrã Panorâmico</PresentationFormat>
  <Paragraphs>202</Paragraphs>
  <Slides>15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Afonso Oliveira da Costa</cp:lastModifiedBy>
  <cp:revision>5</cp:revision>
  <dcterms:created xsi:type="dcterms:W3CDTF">2013-01-27T09:14:16Z</dcterms:created>
  <dcterms:modified xsi:type="dcterms:W3CDTF">2026-10-23T13:58:44Z</dcterms:modified>
  <cp:category/>
</cp:coreProperties>
</file>